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rimson Roman" charset="1" panose="02030503060406020304"/>
      <p:regular r:id="rId26"/>
    </p:embeddedFont>
    <p:embeddedFont>
      <p:font typeface="Crimson Roman Bold" charset="1" panose="02000703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250089"/>
            <a:ext cx="16230600" cy="304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Netflix Movies &amp; TV Shows: </a:t>
            </a:r>
          </a:p>
          <a:p>
            <a:pPr algn="ctr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Data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73496" y="6139339"/>
            <a:ext cx="13741008" cy="130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Exploring</a:t>
            </a:r>
            <a:r>
              <a:rPr lang="en-US" sz="3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 trends in genre popularity, viewer engagement, and language diversity across the Netflix catalog.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5720" y="895350"/>
            <a:ext cx="16856559" cy="165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Outline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73496" y="3003550"/>
            <a:ext cx="13741008" cy="625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Ex</a:t>
            </a:r>
            <a:r>
              <a:rPr lang="en-US" sz="3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ecutive Summary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Introduction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Methodology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Results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Visualization – Charts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Dashboard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Discussion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Findings &amp; Implications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Conclusion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Appendix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32606" y="895350"/>
            <a:ext cx="13422789" cy="165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Exe</a:t>
            </a: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cutive Summary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32606" y="2638308"/>
            <a:ext cx="13422789" cy="439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Netflix Movies &amp; TV Shows Dataset: Key Findings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Drama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 dominates the catalog with ~3,700 titles, far exceeding all other genres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Adventure leads in both average popularity (~54) and average vote count (~2,300)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English-language content accounts for over 7,500 titles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Malayalam (ML) content achieves the highest average popularity (~150)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English-language titles lead in average vote count (~1,670)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Dataset: ~9,000+ Netflix titles across multiple languages and genres with popularity and vote metrics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32606" y="895350"/>
            <a:ext cx="13422789" cy="165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32606" y="2638308"/>
            <a:ext cx="13422789" cy="565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Netflix Movies &amp; TV Shows Dataset – Context &amp; Purpose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Dataset: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 Movie and TV show metadata scraped from Netflix/TMDB (Kaggle – Nalisha, 2022)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Target: Popularity, vote count, and vote average across genres and languages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Purpose: Identify content patterns to support catalog strategy and recommendation insights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Audience: Data analysts, content strategists, streaming platform researchers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Variables include title, genre, original language, popularity score, vote count, vote average, and release date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Analysis focuses on 6 key visualizations: popularity by genre, movie count by genre, vote count by genre, popularity by language, movie count by language, and vote count by language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32606" y="895350"/>
            <a:ext cx="13422789" cy="165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32606" y="2638308"/>
            <a:ext cx="13422789" cy="690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Data Source &amp; Analytical Approach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Source: N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etflix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 Movies and TV Shows dataset (Kaggle – Nalisha)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~9,000+ observations with columns: Title, Genre, Original_Language, Popularity, Vote_Count, Vote_Average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Tools: Python (pandas, numpy, seaborn, matplotlib)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Steps: Load → drop missing values → convert data types → normalize → create categorical bins → build pivot tables → visualize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Popularity_Category (Low/Moderate/High/Trending) 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Vote_Count_Category (Niche/Limited/Popular/Mainstream)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Vote_Average_Category (Poor/Average/Good/Excellent)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Dummy variables created for Original_Language and Genre to enable binary aggregation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13419"/>
            <a:ext cx="5656485" cy="5680658"/>
          </a:xfrm>
          <a:custGeom>
            <a:avLst/>
            <a:gdLst/>
            <a:ahLst/>
            <a:cxnLst/>
            <a:rect r="r" b="b" t="t" l="l"/>
            <a:pathLst>
              <a:path h="5680658" w="5656485">
                <a:moveTo>
                  <a:pt x="0" y="0"/>
                </a:moveTo>
                <a:lnTo>
                  <a:pt x="5656485" y="0"/>
                </a:lnTo>
                <a:lnTo>
                  <a:pt x="5656485" y="5680657"/>
                </a:lnTo>
                <a:lnTo>
                  <a:pt x="0" y="56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77993" y="4046295"/>
            <a:ext cx="7758428" cy="120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7"/>
              </a:lnSpc>
            </a:pPr>
            <a:r>
              <a:rPr lang="en-US" sz="7325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77993" y="5731594"/>
            <a:ext cx="7758428" cy="147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Six </a:t>
            </a:r>
            <a:r>
              <a:rPr lang="en-US" sz="27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exploratory visualizations reveal patterns in content popularity, volume distribution, and audience engagement across Netflix genres and languages.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53719" y="2291407"/>
            <a:ext cx="7605581" cy="5704186"/>
          </a:xfrm>
          <a:custGeom>
            <a:avLst/>
            <a:gdLst/>
            <a:ahLst/>
            <a:cxnLst/>
            <a:rect r="r" b="b" t="t" l="l"/>
            <a:pathLst>
              <a:path h="5704186" w="7605581">
                <a:moveTo>
                  <a:pt x="0" y="0"/>
                </a:moveTo>
                <a:lnTo>
                  <a:pt x="7605581" y="0"/>
                </a:lnTo>
                <a:lnTo>
                  <a:pt x="7605581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95350"/>
            <a:ext cx="8115300" cy="443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Average Popularity </a:t>
            </a:r>
          </a:p>
          <a:p>
            <a:pPr algn="just" marL="0" indent="0" lvl="0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by Genre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478462"/>
            <a:ext cx="8115300" cy="377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9"/>
              </a:lnSpc>
            </a:pPr>
            <a:r>
              <a:rPr lang="en-US" sz="2499" b="true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Key Insight</a:t>
            </a:r>
          </a:p>
          <a:p>
            <a:pPr algn="just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Adventure 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l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eads all genres in average popularity (~54), followed closely by Fantasy (~53) and Animation (~52). Action and Science Fiction round out the top five. Horror ranks lowest among the top 10 at ~38, suggesting it attracts a more niche but consistent audience.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53719" y="2291407"/>
            <a:ext cx="7605581" cy="5704186"/>
          </a:xfrm>
          <a:custGeom>
            <a:avLst/>
            <a:gdLst/>
            <a:ahLst/>
            <a:cxnLst/>
            <a:rect r="r" b="b" t="t" l="l"/>
            <a:pathLst>
              <a:path h="5704186" w="7605581">
                <a:moveTo>
                  <a:pt x="0" y="0"/>
                </a:moveTo>
                <a:lnTo>
                  <a:pt x="7605581" y="0"/>
                </a:lnTo>
                <a:lnTo>
                  <a:pt x="7605581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95350"/>
            <a:ext cx="8115300" cy="304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Movie Count by Genre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849812"/>
            <a:ext cx="8115300" cy="44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9"/>
              </a:lnSpc>
            </a:pPr>
            <a:r>
              <a:rPr lang="en-US" sz="2499" b="true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Key Insight</a:t>
            </a:r>
          </a:p>
          <a:p>
            <a:pPr algn="just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Dr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ama is by far the most represented genre with ~3,700 titles, nearly 700 more than Comedy in second place (~3,030). Action and Thriller follow with ~2,700 and ~2,500 titles respectively. The top four genres make up a disproportionate share of the catalog, while Fantasy at ~1,300 titles sits at the edge of the top 10.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8625019" cy="443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Average </a:t>
            </a:r>
          </a:p>
          <a:p>
            <a:pPr algn="just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Vote Count </a:t>
            </a:r>
          </a:p>
          <a:p>
            <a:pPr algn="just" marL="0" indent="0" lvl="0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by Genre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080000"/>
            <a:ext cx="8115300" cy="44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9"/>
              </a:lnSpc>
            </a:pPr>
            <a:r>
              <a:rPr lang="en-US" sz="2499" b="true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Key Insight</a:t>
            </a:r>
          </a:p>
          <a:p>
            <a:pPr algn="just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Adv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enture and Science Fiction dominate audience engagement with average vote counts of ~2,300 and ~2,200 respectively, significantly higher than Fantasy (~1,950) and Action (~1,800). Drama, despite having the most titles, ranks lowest among the top 10 in vote count (~1,370), indicating it draws volume but lower per-title engagement.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653719" y="2475557"/>
            <a:ext cx="7605581" cy="5704186"/>
          </a:xfrm>
          <a:custGeom>
            <a:avLst/>
            <a:gdLst/>
            <a:ahLst/>
            <a:cxnLst/>
            <a:rect r="r" b="b" t="t" l="l"/>
            <a:pathLst>
              <a:path h="5704186" w="7605581">
                <a:moveTo>
                  <a:pt x="0" y="0"/>
                </a:moveTo>
                <a:lnTo>
                  <a:pt x="7605581" y="0"/>
                </a:lnTo>
                <a:lnTo>
                  <a:pt x="7605581" y="5704185"/>
                </a:lnTo>
                <a:lnTo>
                  <a:pt x="0" y="5704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13422789" cy="165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Findings &amp; Implications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98700"/>
            <a:ext cx="16230600" cy="505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9"/>
              </a:lnSpc>
            </a:pPr>
            <a:r>
              <a:rPr lang="en-US" sz="2499" b="true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Findings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Drama is the highest-volume genr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 but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 ranks last in average vote count among top genres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Adventure excels in both popularity and vote count, making it the most engaging genre overall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Science Fiction achieves top-tier engagement despite moderate catalog size</a:t>
            </a:r>
          </a:p>
          <a:p>
            <a:pPr algn="just">
              <a:lnSpc>
                <a:spcPts val="4999"/>
              </a:lnSpc>
            </a:pPr>
            <a:r>
              <a:rPr lang="en-US" b="true" sz="2499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Implications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High-volume genres like Drama may suffer from content dilution; quality filtering could improve engagement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Adventure and Sci-Fi titles are strong candidates for featured promotion and algorithmic boosting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Low-popularity genres like Horror serve loyal niche audiences and may benefit from targeted recommendation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8625019" cy="443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Average Popularity </a:t>
            </a:r>
          </a:p>
          <a:p>
            <a:pPr algn="just" marL="0" indent="0" lvl="0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by Language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53719" y="2291407"/>
            <a:ext cx="7605581" cy="5704186"/>
          </a:xfrm>
          <a:custGeom>
            <a:avLst/>
            <a:gdLst/>
            <a:ahLst/>
            <a:cxnLst/>
            <a:rect r="r" b="b" t="t" l="l"/>
            <a:pathLst>
              <a:path h="5704186" w="7605581">
                <a:moveTo>
                  <a:pt x="0" y="0"/>
                </a:moveTo>
                <a:lnTo>
                  <a:pt x="7605581" y="0"/>
                </a:lnTo>
                <a:lnTo>
                  <a:pt x="7605581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080000"/>
            <a:ext cx="8115300" cy="44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9"/>
              </a:lnSpc>
            </a:pPr>
            <a:r>
              <a:rPr lang="en-US" sz="2499" b="true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Key Insight</a:t>
            </a:r>
          </a:p>
          <a:p>
            <a:pPr algn="just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Malayal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am (ML) content achieves dramatically higher average popularity (~150) than all other languages, which nearly doubles that of Hindi (HI) at ~86, and more than double Turkish (TR) at ~71. English (EN) ranks only sixth (~42), suggesting non-English content punches well above its catalog weight in audience interest.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13422789" cy="165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Findings &amp; Implications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93962"/>
            <a:ext cx="16230600" cy="505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9"/>
              </a:lnSpc>
            </a:pPr>
            <a:r>
              <a:rPr lang="en-US" sz="2499" b="true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Findings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Malayalam (ML) content achieves the highest average popularity by a wide margin (~150 vs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 ~86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 for Hindi)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English dominates in total title volume (~7,500), but ranks only 6th in average popularity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Japanese content is the second most represented language (~600 titles) after English</a:t>
            </a:r>
          </a:p>
          <a:p>
            <a:pPr algn="just">
              <a:lnSpc>
                <a:spcPts val="4999"/>
              </a:lnSpc>
            </a:pPr>
            <a:r>
              <a:rPr lang="en-US" b="true" sz="2499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Implications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N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on-English content, especially South Asian and Southeast Asian, generates outsized popularity relative to catalog size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Investing in Malayalam, Hindi, and Turkish originals could yield high popularity returns at lower production scale</a:t>
            </a:r>
          </a:p>
          <a:p>
            <a:pPr algn="just" marL="539749" indent="-269875" lvl="1">
              <a:lnSpc>
                <a:spcPts val="4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English-language dominance in volume may suppress its own average popularity metric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196347"/>
            <a:ext cx="6429375" cy="4114800"/>
          </a:xfrm>
          <a:custGeom>
            <a:avLst/>
            <a:gdLst/>
            <a:ahLst/>
            <a:cxnLst/>
            <a:rect r="r" b="b" t="t" l="l"/>
            <a:pathLst>
              <a:path h="4114800" w="6429375">
                <a:moveTo>
                  <a:pt x="0" y="0"/>
                </a:moveTo>
                <a:lnTo>
                  <a:pt x="6429375" y="0"/>
                </a:lnTo>
                <a:lnTo>
                  <a:pt x="64293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77993" y="4046295"/>
            <a:ext cx="7758428" cy="1207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7"/>
              </a:lnSpc>
            </a:pPr>
            <a:r>
              <a:rPr lang="en-US" sz="7325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Additional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77993" y="5969719"/>
            <a:ext cx="7758428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Ex</a:t>
            </a:r>
            <a:r>
              <a:rPr lang="en-US" sz="27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tended findings on audience vote patterns, language-level engagement, and cross-variable relationships.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53719" y="2291407"/>
            <a:ext cx="7605581" cy="5704186"/>
          </a:xfrm>
          <a:custGeom>
            <a:avLst/>
            <a:gdLst/>
            <a:ahLst/>
            <a:cxnLst/>
            <a:rect r="r" b="b" t="t" l="l"/>
            <a:pathLst>
              <a:path h="5704186" w="7605581">
                <a:moveTo>
                  <a:pt x="0" y="0"/>
                </a:moveTo>
                <a:lnTo>
                  <a:pt x="7605581" y="0"/>
                </a:lnTo>
                <a:lnTo>
                  <a:pt x="7605581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95350"/>
            <a:ext cx="8625019" cy="304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Movie Count by Language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080000"/>
            <a:ext cx="8115300" cy="44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9"/>
              </a:lnSpc>
            </a:pPr>
            <a:r>
              <a:rPr lang="en-US" sz="2499" b="true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Key Insight</a:t>
            </a:r>
          </a:p>
          <a:p>
            <a:pPr algn="just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English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 (EN) content accounts for ~7,500 titles, which is more than 12 times the next largest language, Japanese (JA) at ~600. Spanish (ES) and French (FR) follow at ~350 and ~280. The remaining languages each account for under 200 titles, highlighting the heavily English-centric nature of the Netflix catalog.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53719" y="3874319"/>
            <a:ext cx="7605581" cy="2538363"/>
          </a:xfrm>
          <a:custGeom>
            <a:avLst/>
            <a:gdLst/>
            <a:ahLst/>
            <a:cxnLst/>
            <a:rect r="r" b="b" t="t" l="l"/>
            <a:pathLst>
              <a:path h="2538363" w="7605581">
                <a:moveTo>
                  <a:pt x="0" y="0"/>
                </a:moveTo>
                <a:lnTo>
                  <a:pt x="7605581" y="0"/>
                </a:lnTo>
                <a:lnTo>
                  <a:pt x="7605581" y="2538362"/>
                </a:lnTo>
                <a:lnTo>
                  <a:pt x="0" y="2538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95350"/>
            <a:ext cx="8625019" cy="443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Average </a:t>
            </a:r>
          </a:p>
          <a:p>
            <a:pPr algn="just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Vote Count </a:t>
            </a:r>
          </a:p>
          <a:p>
            <a:pPr algn="just" marL="0" indent="0" lvl="0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by Language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080000"/>
            <a:ext cx="8115300" cy="44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9"/>
              </a:lnSpc>
            </a:pPr>
            <a:r>
              <a:rPr lang="en-US" sz="2499" b="true">
                <a:solidFill>
                  <a:srgbClr val="000000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Key Insight</a:t>
            </a:r>
          </a:p>
          <a:p>
            <a:pPr algn="just">
              <a:lnSpc>
                <a:spcPts val="4999"/>
              </a:lnSpc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English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 (EN) leads in average vote count (~1,670), followed by Norwegian (NB) at ~1,240 and Latin (LA) at ~920. Arabic (AR), Italian (IT), Swedish (SV), and French (FR) cluster closely between ~680–700. The pattern suggests that English-language titles benefit from a much larger global voter base, inflating their average engagement metrics.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33293" y="1473301"/>
            <a:ext cx="12421413" cy="109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32"/>
              </a:lnSpc>
            </a:pPr>
            <a:r>
              <a:rPr lang="en-US" sz="6575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Cr</a:t>
            </a:r>
            <a:r>
              <a:rPr lang="en-US" sz="6575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oss-Variable Relationships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31365" y="4128257"/>
            <a:ext cx="4011474" cy="136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High-volume genres (Drama, Comedy) do not correlate with high popularity or vote counts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933293" y="4287947"/>
            <a:ext cx="405313" cy="394996"/>
          </a:xfrm>
          <a:custGeom>
            <a:avLst/>
            <a:gdLst/>
            <a:ahLst/>
            <a:cxnLst/>
            <a:rect r="r" b="b" t="t" l="l"/>
            <a:pathLst>
              <a:path h="394996" w="405313">
                <a:moveTo>
                  <a:pt x="0" y="0"/>
                </a:moveTo>
                <a:lnTo>
                  <a:pt x="405314" y="0"/>
                </a:lnTo>
                <a:lnTo>
                  <a:pt x="405314" y="394996"/>
                </a:lnTo>
                <a:lnTo>
                  <a:pt x="0" y="39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25278" y="7121580"/>
            <a:ext cx="4011474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No</a:t>
            </a: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n-English languages with small catalogs (ML, HI) outperform English in average popularity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7206" y="7281270"/>
            <a:ext cx="405313" cy="394996"/>
          </a:xfrm>
          <a:custGeom>
            <a:avLst/>
            <a:gdLst/>
            <a:ahLst/>
            <a:cxnLst/>
            <a:rect r="r" b="b" t="t" l="l"/>
            <a:pathLst>
              <a:path h="394996" w="405313">
                <a:moveTo>
                  <a:pt x="0" y="0"/>
                </a:moveTo>
                <a:lnTo>
                  <a:pt x="405314" y="0"/>
                </a:lnTo>
                <a:lnTo>
                  <a:pt x="405314" y="394996"/>
                </a:lnTo>
                <a:lnTo>
                  <a:pt x="0" y="39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343232" y="4128257"/>
            <a:ext cx="4011474" cy="136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Adven</a:t>
            </a: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ture and Sci-Fi show the strongest pairing of popularity AND vote engagement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445161" y="4287947"/>
            <a:ext cx="405313" cy="394996"/>
          </a:xfrm>
          <a:custGeom>
            <a:avLst/>
            <a:gdLst/>
            <a:ahLst/>
            <a:cxnLst/>
            <a:rect r="r" b="b" t="t" l="l"/>
            <a:pathLst>
              <a:path h="394996" w="405313">
                <a:moveTo>
                  <a:pt x="0" y="0"/>
                </a:moveTo>
                <a:lnTo>
                  <a:pt x="405313" y="0"/>
                </a:lnTo>
                <a:lnTo>
                  <a:pt x="405313" y="394996"/>
                </a:lnTo>
                <a:lnTo>
                  <a:pt x="0" y="39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587299" y="7148622"/>
            <a:ext cx="4011474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</a:t>
            </a: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nglish-language content's large volume inflates total vote counts but dilutes average popularity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689227" y="7262922"/>
            <a:ext cx="405313" cy="394996"/>
          </a:xfrm>
          <a:custGeom>
            <a:avLst/>
            <a:gdLst/>
            <a:ahLst/>
            <a:cxnLst/>
            <a:rect r="r" b="b" t="t" l="l"/>
            <a:pathLst>
              <a:path h="394996" w="405313">
                <a:moveTo>
                  <a:pt x="0" y="0"/>
                </a:moveTo>
                <a:lnTo>
                  <a:pt x="405313" y="0"/>
                </a:lnTo>
                <a:lnTo>
                  <a:pt x="405313" y="394996"/>
                </a:lnTo>
                <a:lnTo>
                  <a:pt x="0" y="39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32606" y="2638308"/>
            <a:ext cx="13422789" cy="63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b="true" sz="2499">
                <a:solidFill>
                  <a:srgbClr val="1F77B3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Corre</a:t>
            </a:r>
            <a:r>
              <a:rPr lang="en-US" b="true" sz="2499">
                <a:solidFill>
                  <a:srgbClr val="1F77B3"/>
                </a:solidFill>
                <a:latin typeface="Crimson Roman Bold"/>
                <a:ea typeface="Crimson Roman Bold"/>
                <a:cs typeface="Crimson Roman Bold"/>
                <a:sym typeface="Crimson Roman Bold"/>
              </a:rPr>
              <a:t>lation Summary – Variable Interactions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47826" y="7135101"/>
            <a:ext cx="4011474" cy="224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These</a:t>
            </a: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 patterns suggest a combined model using Genre, Language, and Vote Count would be predictive of Popularity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349754" y="7249401"/>
            <a:ext cx="405313" cy="394996"/>
          </a:xfrm>
          <a:custGeom>
            <a:avLst/>
            <a:gdLst/>
            <a:ahLst/>
            <a:cxnLst/>
            <a:rect r="r" b="b" t="t" l="l"/>
            <a:pathLst>
              <a:path h="394996" w="405313">
                <a:moveTo>
                  <a:pt x="0" y="0"/>
                </a:moveTo>
                <a:lnTo>
                  <a:pt x="405313" y="0"/>
                </a:lnTo>
                <a:lnTo>
                  <a:pt x="405313" y="394996"/>
                </a:lnTo>
                <a:lnTo>
                  <a:pt x="0" y="39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51325"/>
            <a:ext cx="7927032" cy="165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Discussion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5732" y="1491615"/>
            <a:ext cx="7758428" cy="7189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This analysis reveals that Netflix con</a:t>
            </a:r>
            <a:r>
              <a:rPr lang="en-US" sz="27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tent performance is shaped by a complex interplay of genre identity, language origin, and audience reach. High-volume genres like Drama dominate the catalog but exhibit lower per-title engagement, while niche high-energy genres like Adventure and Science Fiction generate stronger audience interest. Non-English content, particularly from South and Southeast Asia, consistently outperforms in popularity metrics despite representing a small fraction of total titles. These patterns suggest that catalog diversification, targeted promotion of high-engagement genres, and strategic investment in underrepresented language markets could significantly improve platform-wide audience satisfaction and engagement.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73364" y="942975"/>
            <a:ext cx="9341272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25"/>
              </a:lnSpc>
            </a:pPr>
            <a:r>
              <a:rPr lang="en-US" sz="5750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O</a:t>
            </a:r>
            <a:r>
              <a:rPr lang="en-US" sz="5750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verall Findings &amp; Implications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748590" y="4137782"/>
            <a:ext cx="5510710" cy="35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Drama leads in volume but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 trails in per-title popularity and vote engagement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Adventure is the top-performing genre across both popularity and vote count metrics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Non-English content (ML, HI, TR) achieves disproportionately high popularity scores relative to catalog size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48590" y="3498093"/>
            <a:ext cx="401147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FIND</a:t>
            </a:r>
            <a:r>
              <a:rPr lang="en-US" sz="23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INGS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850518" y="3600632"/>
            <a:ext cx="405313" cy="394996"/>
          </a:xfrm>
          <a:custGeom>
            <a:avLst/>
            <a:gdLst/>
            <a:ahLst/>
            <a:cxnLst/>
            <a:rect r="r" b="b" t="t" l="l"/>
            <a:pathLst>
              <a:path h="394996" w="405313">
                <a:moveTo>
                  <a:pt x="0" y="0"/>
                </a:moveTo>
                <a:lnTo>
                  <a:pt x="405313" y="0"/>
                </a:lnTo>
                <a:lnTo>
                  <a:pt x="405313" y="394996"/>
                </a:lnTo>
                <a:lnTo>
                  <a:pt x="0" y="39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26771" y="4137782"/>
            <a:ext cx="5510710" cy="398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Content</a:t>
            </a: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 strategy should balance volume with engagement quality, which is more titles do not guarantee more popularity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Investment in Adventure, Sci-Fi, and international originals offers the highest expected engagement return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Language diversity in the catalog is an underexploited lever for growing global audience popularity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26771" y="3498093"/>
            <a:ext cx="401147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I</a:t>
            </a:r>
            <a:r>
              <a:rPr lang="en-US" sz="23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MPLICATIONS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3600632"/>
            <a:ext cx="405313" cy="394996"/>
          </a:xfrm>
          <a:custGeom>
            <a:avLst/>
            <a:gdLst/>
            <a:ahLst/>
            <a:cxnLst/>
            <a:rect r="r" b="b" t="t" l="l"/>
            <a:pathLst>
              <a:path h="394996" w="405313">
                <a:moveTo>
                  <a:pt x="0" y="0"/>
                </a:moveTo>
                <a:lnTo>
                  <a:pt x="405313" y="0"/>
                </a:lnTo>
                <a:lnTo>
                  <a:pt x="405313" y="394996"/>
                </a:lnTo>
                <a:lnTo>
                  <a:pt x="0" y="39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33293" y="1473301"/>
            <a:ext cx="12421413" cy="109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32"/>
              </a:lnSpc>
            </a:pPr>
            <a:r>
              <a:rPr lang="en-US" sz="6575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Conclusion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933293" y="4287947"/>
            <a:ext cx="405313" cy="394996"/>
          </a:xfrm>
          <a:custGeom>
            <a:avLst/>
            <a:gdLst/>
            <a:ahLst/>
            <a:cxnLst/>
            <a:rect r="r" b="b" t="t" l="l"/>
            <a:pathLst>
              <a:path h="394996" w="405313">
                <a:moveTo>
                  <a:pt x="0" y="0"/>
                </a:moveTo>
                <a:lnTo>
                  <a:pt x="405314" y="0"/>
                </a:lnTo>
                <a:lnTo>
                  <a:pt x="405314" y="394996"/>
                </a:lnTo>
                <a:lnTo>
                  <a:pt x="0" y="39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31365" y="7065889"/>
            <a:ext cx="4011474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Adven</a:t>
            </a: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ture and Science Fiction are the strongest genre investments for maximizing audience engagement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933293" y="7225579"/>
            <a:ext cx="405313" cy="394996"/>
          </a:xfrm>
          <a:custGeom>
            <a:avLst/>
            <a:gdLst/>
            <a:ahLst/>
            <a:cxnLst/>
            <a:rect r="r" b="b" t="t" l="l"/>
            <a:pathLst>
              <a:path h="394996" w="405313">
                <a:moveTo>
                  <a:pt x="0" y="0"/>
                </a:moveTo>
                <a:lnTo>
                  <a:pt x="405314" y="0"/>
                </a:lnTo>
                <a:lnTo>
                  <a:pt x="405314" y="394996"/>
                </a:lnTo>
                <a:lnTo>
                  <a:pt x="0" y="39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45161" y="4287947"/>
            <a:ext cx="405313" cy="394996"/>
          </a:xfrm>
          <a:custGeom>
            <a:avLst/>
            <a:gdLst/>
            <a:ahLst/>
            <a:cxnLst/>
            <a:rect r="r" b="b" t="t" l="l"/>
            <a:pathLst>
              <a:path h="394996" w="405313">
                <a:moveTo>
                  <a:pt x="0" y="0"/>
                </a:moveTo>
                <a:lnTo>
                  <a:pt x="405313" y="0"/>
                </a:lnTo>
                <a:lnTo>
                  <a:pt x="405313" y="394996"/>
                </a:lnTo>
                <a:lnTo>
                  <a:pt x="0" y="39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343232" y="7111279"/>
            <a:ext cx="4011474" cy="224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EDA confirms</a:t>
            </a: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 that genre, language, and vote count are actionable predictors for content recommendation and acquisition strategy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445161" y="7225579"/>
            <a:ext cx="405313" cy="394996"/>
          </a:xfrm>
          <a:custGeom>
            <a:avLst/>
            <a:gdLst/>
            <a:ahLst/>
            <a:cxnLst/>
            <a:rect r="r" b="b" t="t" l="l"/>
            <a:pathLst>
              <a:path h="394996" w="405313">
                <a:moveTo>
                  <a:pt x="0" y="0"/>
                </a:moveTo>
                <a:lnTo>
                  <a:pt x="405313" y="0"/>
                </a:lnTo>
                <a:lnTo>
                  <a:pt x="405313" y="394996"/>
                </a:lnTo>
                <a:lnTo>
                  <a:pt x="0" y="39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31365" y="4128257"/>
            <a:ext cx="4011474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Netfl</a:t>
            </a: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ix content popularity is driven more by genre energy and cultural relevance than by catalog volume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43232" y="4128257"/>
            <a:ext cx="4011474" cy="224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Non-E</a:t>
            </a:r>
            <a:r>
              <a:rPr lang="en-US" sz="25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nglish languages, especially Malayalam, Hindi, and Turkish, generate outsized popularity despite limited representation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251325"/>
            <a:ext cx="7927032" cy="165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999"/>
              </a:lnSpc>
            </a:pPr>
            <a:r>
              <a:rPr lang="en-US" sz="9999">
                <a:solidFill>
                  <a:srgbClr val="1F77B3"/>
                </a:solidFill>
                <a:latin typeface="Crimson Roman"/>
                <a:ea typeface="Crimson Roman"/>
                <a:cs typeface="Crimson Roman"/>
                <a:sym typeface="Crimson Roman"/>
              </a:rPr>
              <a:t>Appendix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5732" y="1729740"/>
            <a:ext cx="7758428" cy="671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Dataset: N</a:t>
            </a:r>
            <a:r>
              <a:rPr lang="en-US" sz="27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alisha (2022). Netflix Movies and TV Shows Data Analysis. Kaggle. https://www.kaggle.com/datasets/nalisha/netflix-movies-and-tv-shows-data-analysis 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Variables: Title, Genre, Original_Language, Popularity, Vote_Count, Vote_Average, Release_Date 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Tools: Python 3.x — pandas, numpy, seaborn, matplotlib | Encoding: latin-1 </a:t>
            </a: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rimson Roman"/>
                <a:ea typeface="Crimson Roman"/>
                <a:cs typeface="Crimson Roman"/>
                <a:sym typeface="Crimson Roman"/>
              </a:rPr>
              <a:t>Preprocessing: dropna (rows &amp; cols), type casting, categorical binning, dummy encoding, pivot table aggregation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DAHMLbAulkk</dc:identifier>
  <dcterms:modified xsi:type="dcterms:W3CDTF">2011-08-01T06:04:30Z</dcterms:modified>
  <cp:revision>1</cp:revision>
  <dc:title>Netflix Movies &amp; TV Shows:  Data Analysis</dc:title>
</cp:coreProperties>
</file>